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839C3-416E-49ED-8F55-C3D0B51059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8D1CA7-44DB-4437-BE96-AFBE579B436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 flipV="1">
            <a:off x="0" y="5187980"/>
            <a:ext cx="12192000" cy="1283862"/>
          </a:xfrm>
          <a:prstGeom prst="rect">
            <a:avLst/>
          </a:prstGeom>
          <a:gradFill flip="none" rotWithShape="1">
            <a:gsLst>
              <a:gs pos="10000">
                <a:srgbClr val="F7F7F7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3541454" y="428655"/>
            <a:ext cx="51090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B4F80">
                    <a:lumMod val="50000"/>
                  </a:srgbClr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芯片主体支撑结构分层示意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1B4F80">
                  <a:lumMod val="50000"/>
                </a:srgbClr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6535726"/>
            <a:ext cx="5824410" cy="26421"/>
          </a:xfrm>
          <a:prstGeom prst="line">
            <a:avLst/>
          </a:prstGeom>
          <a:ln w="1143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86535" y="6599912"/>
            <a:ext cx="1131207" cy="249299"/>
          </a:xfrm>
          <a:prstGeom prst="rect">
            <a:avLst/>
          </a:prstGeom>
          <a:noFill/>
          <a:effectLst/>
        </p:spPr>
        <p:txBody>
          <a:bodyPr wrap="none" lIns="82296" tIns="41148" rIns="82296" bIns="41148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r>
              <a:rPr lang="zh-CN" altLang="en-US" sz="1080" dirty="0">
                <a:solidFill>
                  <a:prstClr val="black">
                    <a:lumMod val="50000"/>
                    <a:lumOff val="50000"/>
                  </a:prstClr>
                </a:solidFill>
                <a:latin typeface="OPPOSans M" panose="00020600040101010101" charset="-122"/>
                <a:ea typeface="OPPOSans M" panose="00020600040101010101" charset="-122"/>
              </a:rPr>
              <a:t>立项依据与创新</a:t>
            </a:r>
            <a:endParaRPr lang="zh-CN" altLang="en-US" sz="1080" dirty="0">
              <a:solidFill>
                <a:prstClr val="black">
                  <a:lumMod val="50000"/>
                  <a:lumOff val="50000"/>
                </a:prstClr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57848" y="6599912"/>
            <a:ext cx="717632" cy="249299"/>
          </a:xfrm>
          <a:prstGeom prst="rect">
            <a:avLst/>
          </a:prstGeom>
          <a:noFill/>
          <a:effectLst/>
        </p:spPr>
        <p:txBody>
          <a:bodyPr wrap="none" lIns="82296" tIns="41148" rIns="82296" bIns="41148" rtlCol="0">
            <a:spAutoFit/>
          </a:bodyPr>
          <a:lstStyle/>
          <a:p>
            <a:pPr>
              <a:defRPr/>
            </a:pPr>
            <a:r>
              <a:rPr lang="zh-CN" altLang="en-US" sz="1080" dirty="0">
                <a:solidFill>
                  <a:prstClr val="black">
                    <a:lumMod val="50000"/>
                    <a:lumOff val="50000"/>
                  </a:prstClr>
                </a:solidFill>
                <a:latin typeface="OPPOSans M" panose="00020600040101010101" charset="-122"/>
                <a:ea typeface="OPPOSans M" panose="00020600040101010101" charset="-122"/>
              </a:rPr>
              <a:t>设计思路</a:t>
            </a:r>
            <a:endParaRPr lang="zh-CN" altLang="en-US" sz="1080" dirty="0">
              <a:solidFill>
                <a:prstClr val="black">
                  <a:lumMod val="50000"/>
                  <a:lumOff val="50000"/>
                </a:prstClr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15586" y="6599912"/>
            <a:ext cx="717632" cy="249299"/>
          </a:xfrm>
          <a:prstGeom prst="rect">
            <a:avLst/>
          </a:prstGeom>
          <a:noFill/>
          <a:effectLst/>
        </p:spPr>
        <p:txBody>
          <a:bodyPr wrap="none" lIns="82296" tIns="41148" rIns="82296" bIns="41148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80" dirty="0">
                <a:ln>
                  <a:solidFill>
                    <a:srgbClr val="CA865F"/>
                  </a:solidFill>
                </a:ln>
                <a:solidFill>
                  <a:srgbClr val="CA865F"/>
                </a:solidFill>
                <a:latin typeface="OPPOSans M" panose="00020600040101010101" charset="-122"/>
                <a:ea typeface="OPPOSans M" panose="00020600040101010101" charset="-122"/>
              </a:rPr>
              <a:t>实验方案</a:t>
            </a:r>
            <a:endParaRPr lang="zh-CN" altLang="en-US" sz="1080" dirty="0">
              <a:ln>
                <a:solidFill>
                  <a:srgbClr val="CA865F"/>
                </a:solidFill>
              </a:ln>
              <a:solidFill>
                <a:srgbClr val="CA865F"/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73324" y="6596254"/>
            <a:ext cx="717632" cy="249299"/>
          </a:xfrm>
          <a:prstGeom prst="rect">
            <a:avLst/>
          </a:prstGeom>
          <a:noFill/>
          <a:effectLst/>
        </p:spPr>
        <p:txBody>
          <a:bodyPr wrap="none" lIns="82296" tIns="41148" rIns="82296" bIns="41148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OPPOSans M" panose="00020600040101010101" charset="-122"/>
                <a:ea typeface="OPPOSans M" panose="00020600040101010101" charset="-122"/>
                <a:cs typeface="+mn-cs"/>
              </a:rPr>
              <a:t>预期结果</a:t>
            </a:r>
            <a:endParaRPr kumimoji="0" lang="zh-CN" alt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31061" y="6599912"/>
            <a:ext cx="993349" cy="249299"/>
          </a:xfrm>
          <a:prstGeom prst="rect">
            <a:avLst/>
          </a:prstGeom>
          <a:noFill/>
          <a:effectLst/>
        </p:spPr>
        <p:txBody>
          <a:bodyPr wrap="none" lIns="82296" tIns="41148" rIns="82296" bIns="41148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OPPOSans M" panose="00020600040101010101" charset="-122"/>
                <a:ea typeface="OPPOSans M" panose="00020600040101010101" charset="-122"/>
                <a:cs typeface="+mn-cs"/>
              </a:rPr>
              <a:t>后续研究方向</a:t>
            </a:r>
            <a:endParaRPr kumimoji="0" lang="zh-CN" alt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38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864" y="1188803"/>
            <a:ext cx="9042398" cy="48516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23401" y="5954196"/>
            <a:ext cx="5722258" cy="3767539"/>
          </a:xfrm>
          <a:prstGeom prst="rect">
            <a:avLst/>
          </a:prstGeom>
        </p:spPr>
      </p:pic>
      <p:grpSp>
        <p:nvGrpSpPr>
          <p:cNvPr id="42" name="组合 41"/>
          <p:cNvGrpSpPr/>
          <p:nvPr/>
        </p:nvGrpSpPr>
        <p:grpSpPr>
          <a:xfrm>
            <a:off x="560413" y="3120054"/>
            <a:ext cx="1639808" cy="474196"/>
            <a:chOff x="560413" y="3120054"/>
            <a:chExt cx="1639808" cy="474196"/>
          </a:xfrm>
        </p:grpSpPr>
        <p:sp>
          <p:nvSpPr>
            <p:cNvPr id="128" name="矩形: 圆角 127"/>
            <p:cNvSpPr/>
            <p:nvPr/>
          </p:nvSpPr>
          <p:spPr>
            <a:xfrm>
              <a:off x="560413" y="3120054"/>
              <a:ext cx="1639808" cy="47419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/>
                </a:gs>
              </a:gsLst>
              <a:lin ang="2700000" scaled="1"/>
              <a:tileRect/>
            </a:gradFill>
            <a:ln w="6350">
              <a:noFill/>
            </a:ln>
            <a:effectLst>
              <a:outerShdw blurRad="190500" dist="76200" dir="5400000" sx="92000" sy="92000" algn="t" rotWithShape="0">
                <a:schemeClr val="accent4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Regular" panose="020B0500000000000000" charset="-122"/>
                <a:cs typeface="+mn-cs"/>
              </a:endParaRPr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560414" y="3172486"/>
              <a:ext cx="16398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charset="-122"/>
                  <a:ea typeface="思源宋体 CN Heavy" panose="02020900000000000000" charset="-122"/>
                  <a:cs typeface="+mn-cs"/>
                </a:rPr>
                <a:t>涂蛋白多孔膜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</a:endParaRPr>
            </a:p>
          </p:txBody>
        </p:sp>
      </p:grpSp>
      <p:sp>
        <p:nvSpPr>
          <p:cNvPr id="106" name="矩形: 圆角 105"/>
          <p:cNvSpPr/>
          <p:nvPr/>
        </p:nvSpPr>
        <p:spPr>
          <a:xfrm>
            <a:off x="531496" y="1083248"/>
            <a:ext cx="1639808" cy="4741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chemeClr val="accent4"/>
              </a:gs>
            </a:gsLst>
            <a:lin ang="2700000" scaled="1"/>
            <a:tileRect/>
          </a:gradFill>
          <a:ln w="6350">
            <a:noFill/>
          </a:ln>
          <a:effectLst>
            <a:outerShdw blurRad="190500" dist="76200" dir="5400000" sx="92000" sy="92000" algn="t" rotWithShape="0">
              <a:schemeClr val="accent4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660173" y="1135680"/>
            <a:ext cx="138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PDMS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板材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447989" y="1589766"/>
            <a:ext cx="3429788" cy="59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7393A"/>
                </a:solidFill>
                <a:effectLst/>
                <a:uLnTx/>
                <a:uFillTx/>
                <a:latin typeface="Roboto" panose="02000000000000000000"/>
                <a:ea typeface="思源黑体 CN Regular" panose="020B0500000000000000" charset="-122"/>
                <a:cs typeface="+mn-cs"/>
              </a:rPr>
              <a:t>√ 高生物亲和性的聚二甲基硅氧烷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7393A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7393A"/>
                </a:solidFill>
                <a:effectLst/>
                <a:uLnTx/>
                <a:uFillTx/>
                <a:latin typeface="Roboto" panose="02000000000000000000"/>
                <a:ea typeface="思源黑体 CN Regular" panose="020B0500000000000000" charset="-122"/>
                <a:cs typeface="+mn-cs"/>
              </a:rPr>
              <a:t>√ 调节和固化剂的比例可以操控材料性质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7393A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32" name="矩形: 圆角 131"/>
          <p:cNvSpPr/>
          <p:nvPr/>
        </p:nvSpPr>
        <p:spPr>
          <a:xfrm>
            <a:off x="9850292" y="1090734"/>
            <a:ext cx="1639808" cy="4741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chemeClr val="accent4"/>
              </a:gs>
            </a:gsLst>
            <a:lin ang="2700000" scaled="1"/>
            <a:tileRect/>
          </a:gradFill>
          <a:ln w="6350">
            <a:noFill/>
          </a:ln>
          <a:effectLst>
            <a:outerShdw blurRad="190500" dist="76200" dir="5400000" sx="92000" sy="92000" algn="t" rotWithShape="0">
              <a:schemeClr val="accent4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33" name="文本框 132"/>
          <p:cNvSpPr txBox="1"/>
          <p:nvPr/>
        </p:nvSpPr>
        <p:spPr>
          <a:xfrm flipH="1">
            <a:off x="9978969" y="1143166"/>
            <a:ext cx="138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微流控约束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</a:endParaRPr>
          </a:p>
        </p:txBody>
      </p:sp>
      <p:sp>
        <p:nvSpPr>
          <p:cNvPr id="134" name="文本框 133"/>
          <p:cNvSpPr txBox="1"/>
          <p:nvPr/>
        </p:nvSpPr>
        <p:spPr>
          <a:xfrm flipH="1">
            <a:off x="7365318" y="1597252"/>
            <a:ext cx="4208288" cy="84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7393A"/>
                </a:solidFill>
                <a:effectLst/>
                <a:uLnTx/>
                <a:uFillTx/>
                <a:latin typeface="Roboto" panose="02000000000000000000"/>
                <a:ea typeface="思源黑体 CN Regular" panose="020B0500000000000000" charset="-122"/>
                <a:cs typeface="+mn-cs"/>
              </a:rPr>
              <a:t>管径为</a:t>
            </a:r>
            <a:r>
              <a:rPr lang="en-US" altLang="zh-CN" sz="1400" dirty="0">
                <a:solidFill>
                  <a:srgbClr val="47393A"/>
                </a:solidFill>
                <a:latin typeface="Roboto" panose="02000000000000000000"/>
                <a:ea typeface="思源黑体 CN Regular" panose="020B0500000000000000" charset="-122"/>
              </a:rPr>
              <a:t>150</a:t>
            </a:r>
            <a:r>
              <a:rPr lang="zh-CN" altLang="en-US" sz="1400" dirty="0">
                <a:solidFill>
                  <a:srgbClr val="47393A"/>
                </a:solidFill>
                <a:latin typeface="Roboto" panose="02000000000000000000"/>
                <a:ea typeface="思源黑体 CN Regular" panose="020B0500000000000000" charset="-122"/>
              </a:rPr>
              <a:t>微米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7393A"/>
                </a:solidFill>
                <a:effectLst/>
                <a:uLnTx/>
                <a:uFillTx/>
                <a:latin typeface="Roboto" panose="02000000000000000000"/>
                <a:ea typeface="思源黑体 CN Regular" panose="020B0500000000000000" charset="-122"/>
                <a:cs typeface="+mn-cs"/>
              </a:rPr>
              <a:t>左右引导嗅球类器官轴突生长 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7393A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7393A"/>
                </a:solidFill>
                <a:effectLst/>
                <a:uLnTx/>
                <a:uFillTx/>
                <a:latin typeface="Roboto" panose="02000000000000000000"/>
                <a:ea typeface="思源黑体 CN Regular" panose="020B0500000000000000" charset="-122"/>
                <a:cs typeface="+mn-cs"/>
              </a:rPr>
              <a:t>螺旋状结构增大接触面积，利于突触形成 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7393A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7393A"/>
                </a:solidFill>
                <a:effectLst/>
                <a:uLnTx/>
                <a:uFillTx/>
                <a:latin typeface="Roboto" panose="02000000000000000000"/>
                <a:ea typeface="思源黑体 CN Regular" panose="020B0500000000000000" charset="-122"/>
                <a:cs typeface="+mn-cs"/>
              </a:rPr>
              <a:t>可拓展性强，可添加更多通道入口改变微环境 √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7393A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25" name="任意多边形: 形状 124"/>
          <p:cNvSpPr/>
          <p:nvPr/>
        </p:nvSpPr>
        <p:spPr>
          <a:xfrm flipV="1">
            <a:off x="526563" y="3815245"/>
            <a:ext cx="4494213" cy="496523"/>
          </a:xfrm>
          <a:custGeom>
            <a:avLst/>
            <a:gdLst>
              <a:gd name="connsiteX0" fmla="*/ 4305300 w 4305300"/>
              <a:gd name="connsiteY0" fmla="*/ 482600 h 482600"/>
              <a:gd name="connsiteX1" fmla="*/ 3625850 w 4305300"/>
              <a:gd name="connsiteY1" fmla="*/ 0 h 482600"/>
              <a:gd name="connsiteX2" fmla="*/ 0 w 4305300"/>
              <a:gd name="connsiteY2" fmla="*/ 0 h 482600"/>
              <a:gd name="connsiteX0-1" fmla="*/ 4089400 w 4089400"/>
              <a:gd name="connsiteY0-2" fmla="*/ 323850 h 323850"/>
              <a:gd name="connsiteX1-3" fmla="*/ 3625850 w 4089400"/>
              <a:gd name="connsiteY1-4" fmla="*/ 0 h 323850"/>
              <a:gd name="connsiteX2-5" fmla="*/ 0 w 4089400"/>
              <a:gd name="connsiteY2-6" fmla="*/ 0 h 323850"/>
              <a:gd name="connsiteX0-7" fmla="*/ 4494213 w 4494213"/>
              <a:gd name="connsiteY0-8" fmla="*/ 323850 h 323850"/>
              <a:gd name="connsiteX1-9" fmla="*/ 4030663 w 4494213"/>
              <a:gd name="connsiteY1-10" fmla="*/ 0 h 323850"/>
              <a:gd name="connsiteX2-11" fmla="*/ 0 w 4494213"/>
              <a:gd name="connsiteY2-12" fmla="*/ 0 h 3238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494213" h="323850">
                <a:moveTo>
                  <a:pt x="4494213" y="323850"/>
                </a:moveTo>
                <a:lnTo>
                  <a:pt x="4030663" y="0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447989" y="3626572"/>
            <a:ext cx="374220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7393A"/>
                </a:solidFill>
                <a:effectLst/>
                <a:uLnTx/>
                <a:uFillTx/>
                <a:latin typeface="Roboto" panose="02000000000000000000"/>
                <a:ea typeface="思源黑体 CN Regular" panose="020B0500000000000000" charset="-122"/>
                <a:cs typeface="+mn-cs"/>
              </a:rPr>
              <a:t>√ 多孔膜和筛板一样具备多孔的结构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7393A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7393A"/>
                </a:solidFill>
                <a:effectLst/>
                <a:uLnTx/>
                <a:uFillTx/>
                <a:latin typeface="Roboto" panose="02000000000000000000"/>
                <a:ea typeface="思源黑体 CN Regular" panose="020B0500000000000000" charset="-122"/>
                <a:cs typeface="+mn-cs"/>
              </a:rPr>
              <a:t>√</a:t>
            </a:r>
            <a:r>
              <a:rPr lang="en-US" altLang="zh-CN" sz="1400" dirty="0">
                <a:solidFill>
                  <a:srgbClr val="47393A"/>
                </a:solidFill>
                <a:latin typeface="Roboto" panose="02000000000000000000"/>
                <a:ea typeface="思源黑体 CN Regular" panose="020B0500000000000000" charset="-122"/>
              </a:rPr>
              <a:t> </a:t>
            </a:r>
            <a:r>
              <a:rPr lang="zh-CN" altLang="en-US" sz="1400" dirty="0">
                <a:solidFill>
                  <a:srgbClr val="47393A"/>
                </a:solidFill>
                <a:latin typeface="Roboto" panose="02000000000000000000"/>
                <a:ea typeface="思源黑体 CN Regular" panose="020B0500000000000000" charset="-122"/>
              </a:rPr>
              <a:t>涂抹层粘连蛋白提高基板生物相容性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7393A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800509" y="6540806"/>
            <a:ext cx="533718" cy="0"/>
          </a:xfrm>
          <a:prstGeom prst="line">
            <a:avLst/>
          </a:prstGeom>
          <a:ln w="17145">
            <a:solidFill>
              <a:srgbClr val="CA865F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500" y="3623525"/>
            <a:ext cx="3507695" cy="2875730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6353650" y="4002992"/>
            <a:ext cx="5390362" cy="1711842"/>
            <a:chOff x="6353650" y="4002992"/>
            <a:chExt cx="5390362" cy="1711842"/>
          </a:xfrm>
        </p:grpSpPr>
        <p:sp>
          <p:nvSpPr>
            <p:cNvPr id="140" name="任意多边形: 形状 139"/>
            <p:cNvSpPr/>
            <p:nvPr/>
          </p:nvSpPr>
          <p:spPr>
            <a:xfrm flipH="1" flipV="1">
              <a:off x="6353650" y="4002992"/>
              <a:ext cx="1350427" cy="992301"/>
            </a:xfrm>
            <a:custGeom>
              <a:avLst/>
              <a:gdLst>
                <a:gd name="connsiteX0" fmla="*/ 4305300 w 4305300"/>
                <a:gd name="connsiteY0" fmla="*/ 482600 h 482600"/>
                <a:gd name="connsiteX1" fmla="*/ 3625850 w 4305300"/>
                <a:gd name="connsiteY1" fmla="*/ 0 h 482600"/>
                <a:gd name="connsiteX2" fmla="*/ 0 w 4305300"/>
                <a:gd name="connsiteY2" fmla="*/ 0 h 482600"/>
                <a:gd name="connsiteX0-1" fmla="*/ 4089400 w 4089400"/>
                <a:gd name="connsiteY0-2" fmla="*/ 323850 h 323850"/>
                <a:gd name="connsiteX1-3" fmla="*/ 3625850 w 4089400"/>
                <a:gd name="connsiteY1-4" fmla="*/ 0 h 323850"/>
                <a:gd name="connsiteX2-5" fmla="*/ 0 w 4089400"/>
                <a:gd name="connsiteY2-6" fmla="*/ 0 h 323850"/>
                <a:gd name="connsiteX0-7" fmla="*/ 4494213 w 4494213"/>
                <a:gd name="connsiteY0-8" fmla="*/ 323850 h 323850"/>
                <a:gd name="connsiteX1-9" fmla="*/ 4030663 w 4494213"/>
                <a:gd name="connsiteY1-10" fmla="*/ 0 h 323850"/>
                <a:gd name="connsiteX2-11" fmla="*/ 0 w 4494213"/>
                <a:gd name="connsiteY2-12" fmla="*/ 0 h 3238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4494213" h="323850">
                  <a:moveTo>
                    <a:pt x="4494213" y="323850"/>
                  </a:moveTo>
                  <a:lnTo>
                    <a:pt x="4030663" y="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Regular" panose="020B0500000000000000" charset="-122"/>
                <a:cs typeface="+mn-cs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704080" y="4215644"/>
              <a:ext cx="4039932" cy="149919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26563" y="5055476"/>
            <a:ext cx="7160935" cy="1107996"/>
            <a:chOff x="526563" y="5274195"/>
            <a:chExt cx="7160935" cy="1107996"/>
          </a:xfrm>
        </p:grpSpPr>
        <p:sp>
          <p:nvSpPr>
            <p:cNvPr id="18" name="文本框 17"/>
            <p:cNvSpPr txBox="1"/>
            <p:nvPr/>
          </p:nvSpPr>
          <p:spPr>
            <a:xfrm>
              <a:off x="1410750" y="5274195"/>
              <a:ext cx="2779447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600" b="0" i="0" u="none" strike="noStrike" kern="1200" cap="none" spc="0" normalizeH="0" baseline="0" noProof="0" dirty="0">
                  <a:ln>
                    <a:solidFill>
                      <a:srgbClr val="CA865F"/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思源宋体 CN Heavy" panose="02020900000000000000" charset="-122"/>
                  <a:ea typeface="思源宋体 CN Heavy" panose="02020900000000000000" charset="-122"/>
                  <a:cs typeface="+mn-cs"/>
                </a:rPr>
                <a:t>ONDP</a:t>
              </a:r>
              <a:endParaRPr kumimoji="0" lang="zh-CN" altLang="en-US" sz="6600" b="0" i="0" u="none" strike="noStrike" kern="1200" cap="none" spc="0" normalizeH="0" baseline="0" noProof="0" dirty="0">
                <a:ln>
                  <a:solidFill>
                    <a:srgbClr val="CA865F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526563" y="5551994"/>
              <a:ext cx="71609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charset="-122"/>
                  <a:ea typeface="思源宋体 CN Heavy" panose="02020900000000000000" charset="-122"/>
                  <a:cs typeface="+mn-cs"/>
                </a:rPr>
                <a:t>模仿</a:t>
              </a:r>
              <a:r>
                <a: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思源宋体 CN Heavy" panose="02020900000000000000" charset="-122"/>
                  <a:ea typeface="思源宋体 CN Heavy" panose="02020900000000000000" charset="-122"/>
                  <a:cs typeface="+mn-cs"/>
                </a:rPr>
                <a:t>嗅神经直达通路</a:t>
              </a:r>
              <a:r>
                <a: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charset="-122"/>
                  <a:ea typeface="思源宋体 CN Heavy" panose="02020900000000000000" charset="-122"/>
                  <a:cs typeface="+mn-cs"/>
                </a:rPr>
                <a:t>最主要的支撑结构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</a:endParaRPr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8369" y="4026785"/>
            <a:ext cx="1687889" cy="101369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161" y="2460483"/>
            <a:ext cx="3017161" cy="2142136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1974" y="1013430"/>
            <a:ext cx="4314555" cy="2583633"/>
          </a:xfrm>
          <a:prstGeom prst="rect">
            <a:avLst/>
          </a:prstGeom>
        </p:spPr>
      </p:pic>
      <p:sp>
        <p:nvSpPr>
          <p:cNvPr id="123" name="任意多边形: 形状 122"/>
          <p:cNvSpPr/>
          <p:nvPr/>
        </p:nvSpPr>
        <p:spPr>
          <a:xfrm>
            <a:off x="526564" y="2261869"/>
            <a:ext cx="4545604" cy="94650"/>
          </a:xfrm>
          <a:custGeom>
            <a:avLst/>
            <a:gdLst>
              <a:gd name="connsiteX0" fmla="*/ 4305300 w 4305300"/>
              <a:gd name="connsiteY0" fmla="*/ 482600 h 482600"/>
              <a:gd name="connsiteX1" fmla="*/ 3625850 w 4305300"/>
              <a:gd name="connsiteY1" fmla="*/ 0 h 482600"/>
              <a:gd name="connsiteX2" fmla="*/ 0 w 4305300"/>
              <a:gd name="connsiteY2" fmla="*/ 0 h 482600"/>
              <a:gd name="connsiteX0-1" fmla="*/ 4089400 w 4089400"/>
              <a:gd name="connsiteY0-2" fmla="*/ 323850 h 323850"/>
              <a:gd name="connsiteX1-3" fmla="*/ 3625850 w 4089400"/>
              <a:gd name="connsiteY1-4" fmla="*/ 0 h 323850"/>
              <a:gd name="connsiteX2-5" fmla="*/ 0 w 4089400"/>
              <a:gd name="connsiteY2-6" fmla="*/ 0 h 323850"/>
              <a:gd name="connsiteX0-7" fmla="*/ 4494213 w 4494213"/>
              <a:gd name="connsiteY0-8" fmla="*/ 323850 h 323850"/>
              <a:gd name="connsiteX1-9" fmla="*/ 4030663 w 4494213"/>
              <a:gd name="connsiteY1-10" fmla="*/ 0 h 323850"/>
              <a:gd name="connsiteX2-11" fmla="*/ 0 w 4494213"/>
              <a:gd name="connsiteY2-12" fmla="*/ 0 h 3238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494213" h="323850">
                <a:moveTo>
                  <a:pt x="4494213" y="323850"/>
                </a:moveTo>
                <a:lnTo>
                  <a:pt x="4030663" y="0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2198" y="1453628"/>
            <a:ext cx="3087289" cy="1775550"/>
          </a:xfrm>
          <a:prstGeom prst="rect">
            <a:avLst/>
          </a:prstGeom>
        </p:spPr>
      </p:pic>
      <p:sp>
        <p:nvSpPr>
          <p:cNvPr id="135" name="任意多边形: 形状 134"/>
          <p:cNvSpPr/>
          <p:nvPr/>
        </p:nvSpPr>
        <p:spPr>
          <a:xfrm flipH="1">
            <a:off x="6129138" y="2518594"/>
            <a:ext cx="5360961" cy="608187"/>
          </a:xfrm>
          <a:custGeom>
            <a:avLst/>
            <a:gdLst>
              <a:gd name="connsiteX0" fmla="*/ 4305300 w 4305300"/>
              <a:gd name="connsiteY0" fmla="*/ 482600 h 482600"/>
              <a:gd name="connsiteX1" fmla="*/ 3625850 w 4305300"/>
              <a:gd name="connsiteY1" fmla="*/ 0 h 482600"/>
              <a:gd name="connsiteX2" fmla="*/ 0 w 4305300"/>
              <a:gd name="connsiteY2" fmla="*/ 0 h 482600"/>
              <a:gd name="connsiteX0-1" fmla="*/ 4089400 w 4089400"/>
              <a:gd name="connsiteY0-2" fmla="*/ 323850 h 323850"/>
              <a:gd name="connsiteX1-3" fmla="*/ 3625850 w 4089400"/>
              <a:gd name="connsiteY1-4" fmla="*/ 0 h 323850"/>
              <a:gd name="connsiteX2-5" fmla="*/ 0 w 4089400"/>
              <a:gd name="connsiteY2-6" fmla="*/ 0 h 323850"/>
              <a:gd name="connsiteX0-7" fmla="*/ 4494213 w 4494213"/>
              <a:gd name="connsiteY0-8" fmla="*/ 323850 h 323850"/>
              <a:gd name="connsiteX1-9" fmla="*/ 4030663 w 4494213"/>
              <a:gd name="connsiteY1-10" fmla="*/ 0 h 323850"/>
              <a:gd name="connsiteX2-11" fmla="*/ 0 w 4494213"/>
              <a:gd name="connsiteY2-12" fmla="*/ 0 h 3238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494213" h="323850">
                <a:moveTo>
                  <a:pt x="4494213" y="323850"/>
                </a:moveTo>
                <a:lnTo>
                  <a:pt x="4030663" y="0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" dur="500"/>
                                            <p:tgtEl>
                                              <p:spTgt spid="1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7" dur="50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" fill="hold">
                          <p:stCondLst>
                            <p:cond delay="indefinite"/>
                          </p:stCondLst>
                          <p:childTnLst>
                            <p:par>
                              <p:cTn id="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4" presetID="42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-1.11111E-6 L 1.45833E-6 0.08889 " pathEditMode="relative" rAng="0" ptsTypes="AA">
                                          <p:cBhvr>
                                            <p:cTn id="25" dur="8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4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9" dur="500"/>
                                            <p:tgtEl>
                                              <p:spTgt spid="1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2" dur="500"/>
                                            <p:tgtEl>
                                              <p:spTgt spid="10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10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8" presetID="64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08333E-7 -1.11111E-6 L -2.08333E-7 -0.08796 " pathEditMode="relative" rAng="0" ptsTypes="AA">
                                          <p:cBhvr>
                                            <p:cTn id="49" dur="6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43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64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04167E-6 4.81481E-6 L 1.04167E-6 0.10532 " pathEditMode="relative" rAng="0" ptsTypes="AA">
                                          <p:cBhvr>
                                            <p:cTn id="51" dur="6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5255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5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5" dur="500"/>
                                            <p:tgtEl>
                                              <p:spTgt spid="1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8" dur="500"/>
                                            <p:tgtEl>
                                              <p:spTgt spid="1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7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1" fill="hold">
                          <p:stCondLst>
                            <p:cond delay="indefinite"/>
                          </p:stCondLst>
                          <p:childTnLst>
                            <p:par>
                              <p:cTn id="7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3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64" presetClass="path" presetSubtype="0" fill="hold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04167E-6 -0.57107 L 1.04167E-6 4.44444E-6 " pathEditMode="relative" rAng="0" ptsTypes="AA" p14:bounceEnd="64000">
                                          <p:cBhvr>
                                            <p:cTn id="7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854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6" grpId="0" bldLvl="0" animBg="1"/>
          <p:bldP spid="107" grpId="0"/>
          <p:bldP spid="108" grpId="0"/>
          <p:bldP spid="132" grpId="0" bldLvl="0" animBg="1"/>
          <p:bldP spid="133" grpId="0"/>
          <p:bldP spid="134" grpId="0"/>
          <p:bldP spid="125" grpId="0" bldLvl="0" animBg="1"/>
          <p:bldP spid="130" grpId="0"/>
          <p:bldP spid="123" grpId="0" bldLvl="0" animBg="1"/>
          <p:bldP spid="135" grpId="0" bldLvl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" dur="500"/>
                                            <p:tgtEl>
                                              <p:spTgt spid="1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7" dur="50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" fill="hold">
                          <p:stCondLst>
                            <p:cond delay="indefinite"/>
                          </p:stCondLst>
                          <p:childTnLst>
                            <p:par>
                              <p:cTn id="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4" presetID="42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-1.11111E-6 L 1.45833E-6 0.08889 " pathEditMode="relative" rAng="0" ptsTypes="AA">
                                          <p:cBhvr>
                                            <p:cTn id="25" dur="8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4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9" dur="500"/>
                                            <p:tgtEl>
                                              <p:spTgt spid="1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2" dur="500"/>
                                            <p:tgtEl>
                                              <p:spTgt spid="10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10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8" presetID="64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08333E-7 -1.11111E-6 L -2.08333E-7 -0.08796 " pathEditMode="relative" rAng="0" ptsTypes="AA">
                                          <p:cBhvr>
                                            <p:cTn id="49" dur="6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439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64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04167E-6 4.81481E-6 L 1.04167E-6 0.10532 " pathEditMode="relative" rAng="0" ptsTypes="AA">
                                          <p:cBhvr>
                                            <p:cTn id="51" dur="6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5255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5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5" dur="500"/>
                                            <p:tgtEl>
                                              <p:spTgt spid="1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8" dur="500"/>
                                            <p:tgtEl>
                                              <p:spTgt spid="1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7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1" fill="hold">
                          <p:stCondLst>
                            <p:cond delay="indefinite"/>
                          </p:stCondLst>
                          <p:childTnLst>
                            <p:par>
                              <p:cTn id="7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3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64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04167E-6 -0.57107 L 1.04167E-6 4.44444E-6 " pathEditMode="relative" rAng="0" ptsTypes="AA">
                                          <p:cBhvr>
                                            <p:cTn id="7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854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6" grpId="0" bldLvl="0" animBg="1"/>
          <p:bldP spid="107" grpId="0"/>
          <p:bldP spid="108" grpId="0"/>
          <p:bldP spid="132" grpId="0" bldLvl="0" animBg="1"/>
          <p:bldP spid="133" grpId="0"/>
          <p:bldP spid="134" grpId="0"/>
          <p:bldP spid="125" grpId="0" bldLvl="0" animBg="1"/>
          <p:bldP spid="130" grpId="0"/>
          <p:bldP spid="123" grpId="0" bldLvl="0" animBg="1"/>
          <p:bldP spid="135" grpId="0" bldLvl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椭圆 41"/>
          <p:cNvSpPr/>
          <p:nvPr/>
        </p:nvSpPr>
        <p:spPr>
          <a:xfrm>
            <a:off x="193383" y="-2924501"/>
            <a:ext cx="11887200" cy="11887192"/>
          </a:xfrm>
          <a:prstGeom prst="ellipse">
            <a:avLst/>
          </a:prstGeom>
          <a:gradFill flip="none" rotWithShape="1">
            <a:gsLst>
              <a:gs pos="46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2205" y="3019095"/>
            <a:ext cx="741165" cy="1995540"/>
          </a:xfrm>
          <a:prstGeom prst="rect">
            <a:avLst/>
          </a:prstGeom>
        </p:spPr>
      </p:pic>
      <p:sp>
        <p:nvSpPr>
          <p:cNvPr id="49" name="矩形 48"/>
          <p:cNvSpPr/>
          <p:nvPr/>
        </p:nvSpPr>
        <p:spPr>
          <a:xfrm>
            <a:off x="0" y="5151249"/>
            <a:ext cx="12192000" cy="1667541"/>
          </a:xfrm>
          <a:prstGeom prst="rect">
            <a:avLst/>
          </a:prstGeom>
          <a:gradFill flip="none" rotWithShape="1">
            <a:gsLst>
              <a:gs pos="21000">
                <a:srgbClr val="F7F7F7"/>
              </a:gs>
              <a:gs pos="98000">
                <a:srgbClr val="F7F7F7">
                  <a:alpha val="0"/>
                </a:srgbClr>
              </a:gs>
            </a:gsLst>
            <a:lin ang="162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43" name="任意多边形: 形状 42"/>
          <p:cNvSpPr/>
          <p:nvPr/>
        </p:nvSpPr>
        <p:spPr>
          <a:xfrm>
            <a:off x="2646659" y="482614"/>
            <a:ext cx="6898678" cy="6898678"/>
          </a:xfrm>
          <a:custGeom>
            <a:avLst/>
            <a:gdLst>
              <a:gd name="connsiteX0" fmla="*/ 2008232 w 2008231"/>
              <a:gd name="connsiteY0" fmla="*/ 1004116 h 2008231"/>
              <a:gd name="connsiteX1" fmla="*/ 1004116 w 2008231"/>
              <a:gd name="connsiteY1" fmla="*/ 2008232 h 2008231"/>
              <a:gd name="connsiteX2" fmla="*/ 0 w 2008231"/>
              <a:gd name="connsiteY2" fmla="*/ 1004116 h 2008231"/>
              <a:gd name="connsiteX3" fmla="*/ 1004116 w 2008231"/>
              <a:gd name="connsiteY3" fmla="*/ 0 h 2008231"/>
              <a:gd name="connsiteX4" fmla="*/ 2008232 w 2008231"/>
              <a:gd name="connsiteY4" fmla="*/ 1004116 h 2008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8231" h="2008231">
                <a:moveTo>
                  <a:pt x="2008232" y="1004116"/>
                </a:moveTo>
                <a:cubicBezTo>
                  <a:pt x="2008232" y="1558674"/>
                  <a:pt x="1558674" y="2008232"/>
                  <a:pt x="1004116" y="2008232"/>
                </a:cubicBezTo>
                <a:cubicBezTo>
                  <a:pt x="449558" y="2008232"/>
                  <a:pt x="0" y="1558674"/>
                  <a:pt x="0" y="1004116"/>
                </a:cubicBezTo>
                <a:cubicBezTo>
                  <a:pt x="0" y="449558"/>
                  <a:pt x="449558" y="0"/>
                  <a:pt x="1004116" y="0"/>
                </a:cubicBezTo>
                <a:cubicBezTo>
                  <a:pt x="1558674" y="0"/>
                  <a:pt x="2008232" y="449558"/>
                  <a:pt x="2008232" y="1004116"/>
                </a:cubicBezTo>
                <a:close/>
              </a:path>
            </a:pathLst>
          </a:custGeom>
          <a:noFill/>
          <a:ln w="30177" cap="flat">
            <a:solidFill>
              <a:schemeClr val="accent1">
                <a:lumMod val="20000"/>
                <a:lumOff val="80000"/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grpSp>
        <p:nvGrpSpPr>
          <p:cNvPr id="44" name="图形 16"/>
          <p:cNvGrpSpPr/>
          <p:nvPr/>
        </p:nvGrpSpPr>
        <p:grpSpPr>
          <a:xfrm>
            <a:off x="3277923" y="1138163"/>
            <a:ext cx="5636722" cy="5189110"/>
            <a:chOff x="5274277" y="2501455"/>
            <a:chExt cx="1640871" cy="1510569"/>
          </a:xfrm>
          <a:noFill/>
        </p:grpSpPr>
        <p:sp>
          <p:nvSpPr>
            <p:cNvPr id="46" name="任意多边形: 形状 45"/>
            <p:cNvSpPr/>
            <p:nvPr/>
          </p:nvSpPr>
          <p:spPr>
            <a:xfrm>
              <a:off x="5274277" y="2501455"/>
              <a:ext cx="820483" cy="1308544"/>
            </a:xfrm>
            <a:custGeom>
              <a:avLst/>
              <a:gdLst>
                <a:gd name="connsiteX0" fmla="*/ 160877 w 820483"/>
                <a:gd name="connsiteY0" fmla="*/ 1308545 h 1308544"/>
                <a:gd name="connsiteX1" fmla="*/ 0 w 820483"/>
                <a:gd name="connsiteY1" fmla="*/ 820484 h 1308544"/>
                <a:gd name="connsiteX2" fmla="*/ 820483 w 820483"/>
                <a:gd name="connsiteY2" fmla="*/ 0 h 1308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0483" h="1308544">
                  <a:moveTo>
                    <a:pt x="160877" y="1308545"/>
                  </a:moveTo>
                  <a:cubicBezTo>
                    <a:pt x="59817" y="1172146"/>
                    <a:pt x="0" y="1003268"/>
                    <a:pt x="0" y="820484"/>
                  </a:cubicBezTo>
                  <a:cubicBezTo>
                    <a:pt x="0" y="367379"/>
                    <a:pt x="367284" y="0"/>
                    <a:pt x="820483" y="0"/>
                  </a:cubicBezTo>
                </a:path>
              </a:pathLst>
            </a:custGeom>
            <a:noFill/>
            <a:ln w="8479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Regular" panose="020B0500000000000000" charset="-122"/>
                <a:cs typeface="+mn-cs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6538626" y="2800064"/>
              <a:ext cx="376523" cy="1211961"/>
            </a:xfrm>
            <a:custGeom>
              <a:avLst/>
              <a:gdLst>
                <a:gd name="connsiteX0" fmla="*/ 189167 w 376523"/>
                <a:gd name="connsiteY0" fmla="*/ 0 h 1211961"/>
                <a:gd name="connsiteX1" fmla="*/ 376523 w 376523"/>
                <a:gd name="connsiteY1" fmla="*/ 521875 h 1211961"/>
                <a:gd name="connsiteX2" fmla="*/ 0 w 376523"/>
                <a:gd name="connsiteY2" fmla="*/ 1211961 h 121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523" h="1211961">
                  <a:moveTo>
                    <a:pt x="189167" y="0"/>
                  </a:moveTo>
                  <a:cubicBezTo>
                    <a:pt x="306229" y="141827"/>
                    <a:pt x="376523" y="323659"/>
                    <a:pt x="376523" y="521875"/>
                  </a:cubicBezTo>
                  <a:cubicBezTo>
                    <a:pt x="376523" y="811435"/>
                    <a:pt x="226504" y="1065943"/>
                    <a:pt x="0" y="1211961"/>
                  </a:cubicBezTo>
                </a:path>
              </a:pathLst>
            </a:custGeom>
            <a:noFill/>
            <a:ln w="8479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Regular" panose="020B0500000000000000" charset="-122"/>
                <a:cs typeface="+mn-cs"/>
              </a:endParaRPr>
            </a:p>
          </p:txBody>
        </p:sp>
      </p:grpSp>
      <p:sp>
        <p:nvSpPr>
          <p:cNvPr id="45" name="任意多边形: 形状 44"/>
          <p:cNvSpPr/>
          <p:nvPr/>
        </p:nvSpPr>
        <p:spPr>
          <a:xfrm>
            <a:off x="1811075" y="459544"/>
            <a:ext cx="8570751" cy="7757653"/>
          </a:xfrm>
          <a:custGeom>
            <a:avLst/>
            <a:gdLst>
              <a:gd name="connsiteX0" fmla="*/ 516731 w 2494978"/>
              <a:gd name="connsiteY0" fmla="*/ 0 h 2258282"/>
              <a:gd name="connsiteX1" fmla="*/ 0 w 2494978"/>
              <a:gd name="connsiteY1" fmla="*/ 1010793 h 2258282"/>
              <a:gd name="connsiteX2" fmla="*/ 1247489 w 2494978"/>
              <a:gd name="connsiteY2" fmla="*/ 2258282 h 2258282"/>
              <a:gd name="connsiteX3" fmla="*/ 2494979 w 2494978"/>
              <a:gd name="connsiteY3" fmla="*/ 1010793 h 2258282"/>
              <a:gd name="connsiteX4" fmla="*/ 1978247 w 2494978"/>
              <a:gd name="connsiteY4" fmla="*/ 0 h 2258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94978" h="2258282">
                <a:moveTo>
                  <a:pt x="516731" y="0"/>
                </a:moveTo>
                <a:cubicBezTo>
                  <a:pt x="203740" y="226695"/>
                  <a:pt x="0" y="594836"/>
                  <a:pt x="0" y="1010793"/>
                </a:cubicBezTo>
                <a:cubicBezTo>
                  <a:pt x="0" y="1699736"/>
                  <a:pt x="558546" y="2258282"/>
                  <a:pt x="1247489" y="2258282"/>
                </a:cubicBezTo>
                <a:cubicBezTo>
                  <a:pt x="1936433" y="2258282"/>
                  <a:pt x="2494979" y="1699736"/>
                  <a:pt x="2494979" y="1010793"/>
                </a:cubicBezTo>
                <a:cubicBezTo>
                  <a:pt x="2494979" y="594836"/>
                  <a:pt x="2291144" y="226695"/>
                  <a:pt x="1978247" y="0"/>
                </a:cubicBezTo>
              </a:path>
            </a:pathLst>
          </a:custGeom>
          <a:noFill/>
          <a:ln w="15875" cap="flat">
            <a:solidFill>
              <a:srgbClr val="C7D6E2">
                <a:alpha val="20000"/>
              </a:srgb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0" y="-1"/>
            <a:ext cx="12192000" cy="1667541"/>
          </a:xfrm>
          <a:prstGeom prst="rect">
            <a:avLst/>
          </a:prstGeom>
          <a:gradFill flip="none" rotWithShape="1">
            <a:gsLst>
              <a:gs pos="21000">
                <a:srgbClr val="F7F7F7"/>
              </a:gs>
              <a:gs pos="98000">
                <a:srgbClr val="F7F7F7">
                  <a:alpha val="0"/>
                </a:srgbClr>
              </a:gs>
            </a:gsLst>
            <a:lin ang="54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82597" y="664764"/>
            <a:ext cx="4288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气液界面模拟结构示意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93870" y="6219094"/>
            <a:ext cx="59298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仿造真实的鼻腔结构和重力环境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0" y="6535726"/>
            <a:ext cx="5824410" cy="26421"/>
          </a:xfrm>
          <a:prstGeom prst="line">
            <a:avLst/>
          </a:prstGeom>
          <a:ln w="1143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86535" y="6599912"/>
            <a:ext cx="1131207" cy="249299"/>
          </a:xfrm>
          <a:prstGeom prst="rect">
            <a:avLst/>
          </a:prstGeom>
          <a:noFill/>
          <a:effectLst/>
        </p:spPr>
        <p:txBody>
          <a:bodyPr wrap="none" lIns="82296" tIns="41148" rIns="82296" bIns="41148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r>
              <a:rPr lang="zh-CN" altLang="en-US" sz="1080" dirty="0">
                <a:solidFill>
                  <a:prstClr val="black">
                    <a:lumMod val="50000"/>
                    <a:lumOff val="50000"/>
                  </a:prstClr>
                </a:solidFill>
                <a:latin typeface="OPPOSans M" panose="00020600040101010101" charset="-122"/>
                <a:ea typeface="OPPOSans M" panose="00020600040101010101" charset="-122"/>
              </a:rPr>
              <a:t>立项依据与创新</a:t>
            </a:r>
            <a:endParaRPr lang="zh-CN" altLang="en-US" sz="1080" dirty="0">
              <a:solidFill>
                <a:prstClr val="black">
                  <a:lumMod val="50000"/>
                  <a:lumOff val="50000"/>
                </a:prstClr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57848" y="6599912"/>
            <a:ext cx="717632" cy="249299"/>
          </a:xfrm>
          <a:prstGeom prst="rect">
            <a:avLst/>
          </a:prstGeom>
          <a:noFill/>
          <a:effectLst/>
        </p:spPr>
        <p:txBody>
          <a:bodyPr wrap="none" lIns="82296" tIns="41148" rIns="82296" bIns="41148" rtlCol="0">
            <a:spAutoFit/>
          </a:bodyPr>
          <a:lstStyle/>
          <a:p>
            <a:pPr>
              <a:defRPr/>
            </a:pPr>
            <a:r>
              <a:rPr lang="zh-CN" altLang="en-US" sz="1080" dirty="0">
                <a:solidFill>
                  <a:prstClr val="black">
                    <a:lumMod val="50000"/>
                    <a:lumOff val="50000"/>
                  </a:prstClr>
                </a:solidFill>
                <a:latin typeface="OPPOSans M" panose="00020600040101010101" charset="-122"/>
                <a:ea typeface="OPPOSans M" panose="00020600040101010101" charset="-122"/>
              </a:rPr>
              <a:t>设计思路</a:t>
            </a:r>
            <a:endParaRPr lang="zh-CN" altLang="en-US" sz="1080" dirty="0">
              <a:solidFill>
                <a:prstClr val="black">
                  <a:lumMod val="50000"/>
                  <a:lumOff val="50000"/>
                </a:prstClr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15586" y="6599912"/>
            <a:ext cx="717632" cy="249299"/>
          </a:xfrm>
          <a:prstGeom prst="rect">
            <a:avLst/>
          </a:prstGeom>
          <a:noFill/>
          <a:effectLst/>
        </p:spPr>
        <p:txBody>
          <a:bodyPr wrap="none" lIns="82296" tIns="41148" rIns="82296" bIns="41148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80" dirty="0">
                <a:ln>
                  <a:solidFill>
                    <a:srgbClr val="CA865F"/>
                  </a:solidFill>
                </a:ln>
                <a:solidFill>
                  <a:srgbClr val="CA865F"/>
                </a:solidFill>
                <a:latin typeface="OPPOSans M" panose="00020600040101010101" charset="-122"/>
                <a:ea typeface="OPPOSans M" panose="00020600040101010101" charset="-122"/>
              </a:rPr>
              <a:t>实验方案</a:t>
            </a:r>
            <a:endParaRPr lang="zh-CN" altLang="en-US" sz="1080" dirty="0">
              <a:ln>
                <a:solidFill>
                  <a:srgbClr val="CA865F"/>
                </a:solidFill>
              </a:ln>
              <a:solidFill>
                <a:srgbClr val="CA865F"/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773324" y="6596254"/>
            <a:ext cx="717632" cy="249299"/>
          </a:xfrm>
          <a:prstGeom prst="rect">
            <a:avLst/>
          </a:prstGeom>
          <a:noFill/>
          <a:effectLst/>
        </p:spPr>
        <p:txBody>
          <a:bodyPr wrap="none" lIns="82296" tIns="41148" rIns="82296" bIns="41148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OPPOSans M" panose="00020600040101010101" charset="-122"/>
                <a:ea typeface="OPPOSans M" panose="00020600040101010101" charset="-122"/>
                <a:cs typeface="+mn-cs"/>
              </a:rPr>
              <a:t>预期结果</a:t>
            </a:r>
            <a:endParaRPr kumimoji="0" lang="zh-CN" alt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795163" y="6540322"/>
            <a:ext cx="558478" cy="0"/>
          </a:xfrm>
          <a:prstGeom prst="line">
            <a:avLst/>
          </a:prstGeom>
          <a:ln w="17145">
            <a:solidFill>
              <a:srgbClr val="CA865F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831061" y="6599912"/>
            <a:ext cx="993349" cy="249299"/>
          </a:xfrm>
          <a:prstGeom prst="rect">
            <a:avLst/>
          </a:prstGeom>
          <a:noFill/>
          <a:effectLst/>
        </p:spPr>
        <p:txBody>
          <a:bodyPr wrap="none" lIns="82296" tIns="41148" rIns="82296" bIns="41148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OPPOSans M" panose="00020600040101010101" charset="-122"/>
                <a:ea typeface="OPPOSans M" panose="00020600040101010101" charset="-122"/>
                <a:cs typeface="+mn-cs"/>
              </a:rPr>
              <a:t>后续研究方向</a:t>
            </a:r>
            <a:endParaRPr kumimoji="0" lang="zh-CN" alt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035" y="619014"/>
            <a:ext cx="5659522" cy="584827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377" y="2126557"/>
            <a:ext cx="912517" cy="39001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814" y="3164789"/>
            <a:ext cx="2620856" cy="164307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336" y="4578590"/>
            <a:ext cx="3138243" cy="104802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628" y="2371706"/>
            <a:ext cx="3139703" cy="104802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2337" y="2766776"/>
            <a:ext cx="2469036" cy="20115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WPS 演示</Application>
  <PresentationFormat>宽屏</PresentationFormat>
  <Paragraphs>46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Roboto</vt:lpstr>
      <vt:lpstr>思源黑体 CN Regular</vt:lpstr>
      <vt:lpstr>思源宋体 CN Heavy</vt:lpstr>
      <vt:lpstr>OPPOSans M</vt:lpstr>
      <vt:lpstr>等线</vt:lpstr>
      <vt:lpstr>黑体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杨馥菱</cp:lastModifiedBy>
  <cp:revision>157</cp:revision>
  <dcterms:created xsi:type="dcterms:W3CDTF">2019-06-19T02:08:00Z</dcterms:created>
  <dcterms:modified xsi:type="dcterms:W3CDTF">2026-03-05T12:45:25Z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B19981BBF4794654A96E201C29200BD5_11</vt:lpwstr>
  </property>
</Properties>
</file>